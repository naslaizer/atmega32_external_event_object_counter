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5" r:id="rId2"/>
    <p:sldId id="276" r:id="rId3"/>
    <p:sldId id="256" r:id="rId4"/>
    <p:sldId id="268" r:id="rId5"/>
    <p:sldId id="270" r:id="rId6"/>
    <p:sldId id="271" r:id="rId7"/>
    <p:sldId id="266" r:id="rId8"/>
    <p:sldId id="267" r:id="rId9"/>
    <p:sldId id="261" r:id="rId10"/>
    <p:sldId id="262" r:id="rId11"/>
    <p:sldId id="263" r:id="rId12"/>
    <p:sldId id="264" r:id="rId13"/>
    <p:sldId id="265" r:id="rId14"/>
    <p:sldId id="257" r:id="rId15"/>
    <p:sldId id="258" r:id="rId16"/>
    <p:sldId id="259" r:id="rId17"/>
    <p:sldId id="260"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8" d="100"/>
          <a:sy n="78"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7/1/2026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7/1/2026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7/1/2026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7/1/2026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382784279"/>
              </p:ext>
            </p:extLst>
          </p:nvPr>
        </p:nvGraphicFramePr>
        <p:xfrm>
          <a:off x="3351460" y="2517781"/>
          <a:ext cx="6829255" cy="1977080"/>
        </p:xfrm>
        <a:graphic>
          <a:graphicData uri="http://schemas.openxmlformats.org/drawingml/2006/table">
            <a:tbl>
              <a:tblPr>
                <a:tableStyleId>{5C22544A-7EE6-4342-B048-85BDC9FD1C3A}</a:tableStyleId>
              </a:tblPr>
              <a:tblGrid>
                <a:gridCol w="3579059">
                  <a:extLst>
                    <a:ext uri="{9D8B030D-6E8A-4147-A177-3AD203B41FA5}">
                      <a16:colId xmlns:a16="http://schemas.microsoft.com/office/drawing/2014/main" val="3351173637"/>
                    </a:ext>
                  </a:extLst>
                </a:gridCol>
                <a:gridCol w="448766">
                  <a:extLst>
                    <a:ext uri="{9D8B030D-6E8A-4147-A177-3AD203B41FA5}">
                      <a16:colId xmlns:a16="http://schemas.microsoft.com/office/drawing/2014/main" val="3194581896"/>
                    </a:ext>
                  </a:extLst>
                </a:gridCol>
                <a:gridCol w="1400715">
                  <a:extLst>
                    <a:ext uri="{9D8B030D-6E8A-4147-A177-3AD203B41FA5}">
                      <a16:colId xmlns:a16="http://schemas.microsoft.com/office/drawing/2014/main" val="4285454564"/>
                    </a:ext>
                  </a:extLst>
                </a:gridCol>
                <a:gridCol w="1400715">
                  <a:extLst>
                    <a:ext uri="{9D8B030D-6E8A-4147-A177-3AD203B41FA5}">
                      <a16:colId xmlns:a16="http://schemas.microsoft.com/office/drawing/2014/main" val="2751011609"/>
                    </a:ext>
                  </a:extLst>
                </a:gridCol>
              </a:tblGrid>
              <a:tr h="419216">
                <a:tc gridSpan="3">
                  <a:txBody>
                    <a:bodyPr/>
                    <a:lstStyle/>
                    <a:p>
                      <a:pPr marL="0" marR="0" algn="ctr">
                        <a:spcBef>
                          <a:spcPts val="0"/>
                        </a:spcBef>
                        <a:spcAft>
                          <a:spcPts val="0"/>
                        </a:spcAft>
                      </a:pPr>
                      <a:r>
                        <a:rPr lang="en-US" sz="1400" u="sng">
                          <a:effectLst/>
                        </a:rPr>
                        <a:t>GROUP ASSIGNMENT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901301831"/>
                  </a:ext>
                </a:extLst>
              </a:tr>
              <a:tr h="259644">
                <a:tc>
                  <a:txBody>
                    <a:bodyPr/>
                    <a:lstStyle/>
                    <a:p>
                      <a:pPr marL="0" marR="0">
                        <a:spcBef>
                          <a:spcPts val="0"/>
                        </a:spcBef>
                        <a:spcAft>
                          <a:spcPts val="0"/>
                        </a:spcAft>
                      </a:pPr>
                      <a:r>
                        <a:rPr lang="en-US" sz="1200" dirty="0">
                          <a:effectLst/>
                        </a:rPr>
                        <a:t>GROUP NUMBER</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a:effectLst/>
                        </a:rPr>
                        <a:t>09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844861421"/>
                  </a:ext>
                </a:extLst>
              </a:tr>
              <a:tr h="259644">
                <a:tc>
                  <a:txBody>
                    <a:bodyPr/>
                    <a:lstStyle/>
                    <a:p>
                      <a:pPr marL="0" marR="0">
                        <a:spcBef>
                          <a:spcPts val="0"/>
                        </a:spcBef>
                        <a:spcAft>
                          <a:spcPts val="0"/>
                        </a:spcAft>
                      </a:pPr>
                      <a:r>
                        <a:rPr lang="en-US" sz="1200">
                          <a:effectLst/>
                        </a:rPr>
                        <a:t>MODULE NAME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a:effectLst/>
                        </a:rPr>
                        <a:t>MICROCONTROLLER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551174042"/>
                  </a:ext>
                </a:extLst>
              </a:tr>
              <a:tr h="259644">
                <a:tc>
                  <a:txBody>
                    <a:bodyPr/>
                    <a:lstStyle/>
                    <a:p>
                      <a:pPr marL="0" marR="0">
                        <a:spcBef>
                          <a:spcPts val="0"/>
                        </a:spcBef>
                        <a:spcAft>
                          <a:spcPts val="0"/>
                        </a:spcAft>
                      </a:pPr>
                      <a:r>
                        <a:rPr lang="en-US" sz="1200">
                          <a:effectLst/>
                        </a:rPr>
                        <a:t>MODULE CODE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a:effectLst/>
                        </a:rPr>
                        <a:t>CT 321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12597055"/>
                  </a:ext>
                </a:extLst>
              </a:tr>
              <a:tr h="259644">
                <a:tc>
                  <a:txBody>
                    <a:bodyPr/>
                    <a:lstStyle/>
                    <a:p>
                      <a:pPr marL="0" marR="0">
                        <a:spcBef>
                          <a:spcPts val="0"/>
                        </a:spcBef>
                        <a:spcAft>
                          <a:spcPts val="0"/>
                        </a:spcAft>
                      </a:pPr>
                      <a:r>
                        <a:rPr lang="en-US" sz="1200">
                          <a:effectLst/>
                        </a:rPr>
                        <a:t>FACILITATOR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a:effectLst/>
                        </a:rPr>
                        <a:t>Dr. CRALLET VICTOR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458448230"/>
                  </a:ext>
                </a:extLst>
              </a:tr>
              <a:tr h="259644">
                <a:tc>
                  <a:txBody>
                    <a:bodyPr/>
                    <a:lstStyle/>
                    <a:p>
                      <a:pPr marL="0" marR="0">
                        <a:spcBef>
                          <a:spcPts val="0"/>
                        </a:spcBef>
                        <a:spcAft>
                          <a:spcPts val="0"/>
                        </a:spcAft>
                      </a:pPr>
                      <a:r>
                        <a:rPr lang="en-US" sz="1200">
                          <a:effectLst/>
                        </a:rPr>
                        <a:t>SEMESTER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a:effectLst/>
                        </a:rPr>
                        <a:t>TWO</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765685568"/>
                  </a:ext>
                </a:extLst>
              </a:tr>
              <a:tr h="259644">
                <a:tc>
                  <a:txBody>
                    <a:bodyPr/>
                    <a:lstStyle/>
                    <a:p>
                      <a:pPr marL="0" marR="0">
                        <a:spcBef>
                          <a:spcPts val="0"/>
                        </a:spcBef>
                        <a:spcAft>
                          <a:spcPts val="0"/>
                        </a:spcAft>
                      </a:pPr>
                      <a:r>
                        <a:rPr lang="en-US" sz="1200">
                          <a:effectLst/>
                        </a:rPr>
                        <a:t>ACADEMIC YEAR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dirty="0">
                          <a:effectLst/>
                        </a:rPr>
                        <a: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spcBef>
                          <a:spcPts val="0"/>
                        </a:spcBef>
                        <a:spcAft>
                          <a:spcPts val="1000"/>
                        </a:spcAft>
                      </a:pPr>
                      <a:r>
                        <a:rPr lang="en-US" sz="1200" dirty="0">
                          <a:effectLst/>
                        </a:rPr>
                        <a:t>2025 / 2026</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69990017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443473181"/>
              </p:ext>
            </p:extLst>
          </p:nvPr>
        </p:nvGraphicFramePr>
        <p:xfrm>
          <a:off x="3351461" y="4602920"/>
          <a:ext cx="6829255" cy="2134615"/>
        </p:xfrm>
        <a:graphic>
          <a:graphicData uri="http://schemas.openxmlformats.org/drawingml/2006/table">
            <a:tbl>
              <a:tblPr firstRow="1" firstCol="1" bandRow="1">
                <a:tableStyleId>{5C22544A-7EE6-4342-B048-85BDC9FD1C3A}</a:tableStyleId>
              </a:tblPr>
              <a:tblGrid>
                <a:gridCol w="573296">
                  <a:extLst>
                    <a:ext uri="{9D8B030D-6E8A-4147-A177-3AD203B41FA5}">
                      <a16:colId xmlns:a16="http://schemas.microsoft.com/office/drawing/2014/main" val="1738270917"/>
                    </a:ext>
                  </a:extLst>
                </a:gridCol>
                <a:gridCol w="2858345">
                  <a:extLst>
                    <a:ext uri="{9D8B030D-6E8A-4147-A177-3AD203B41FA5}">
                      <a16:colId xmlns:a16="http://schemas.microsoft.com/office/drawing/2014/main" val="2330600098"/>
                    </a:ext>
                  </a:extLst>
                </a:gridCol>
                <a:gridCol w="1774630">
                  <a:extLst>
                    <a:ext uri="{9D8B030D-6E8A-4147-A177-3AD203B41FA5}">
                      <a16:colId xmlns:a16="http://schemas.microsoft.com/office/drawing/2014/main" val="3505524938"/>
                    </a:ext>
                  </a:extLst>
                </a:gridCol>
                <a:gridCol w="1622984">
                  <a:extLst>
                    <a:ext uri="{9D8B030D-6E8A-4147-A177-3AD203B41FA5}">
                      <a16:colId xmlns:a16="http://schemas.microsoft.com/office/drawing/2014/main" val="1562116835"/>
                    </a:ext>
                  </a:extLst>
                </a:gridCol>
              </a:tblGrid>
              <a:tr h="426923">
                <a:tc>
                  <a:txBody>
                    <a:bodyPr/>
                    <a:lstStyle/>
                    <a:p>
                      <a:pPr marL="0" marR="0" algn="ctr">
                        <a:spcBef>
                          <a:spcPts val="0"/>
                        </a:spcBef>
                        <a:spcAft>
                          <a:spcPts val="0"/>
                        </a:spcAft>
                      </a:pPr>
                      <a:r>
                        <a:rPr lang="en-US" sz="1200">
                          <a:effectLst/>
                        </a:rPr>
                        <a:t>S/N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NAME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REG NUMBER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PROGRAMME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7532924"/>
                  </a:ext>
                </a:extLst>
              </a:tr>
              <a:tr h="426923">
                <a:tc>
                  <a:txBody>
                    <a:bodyPr/>
                    <a:lstStyle/>
                    <a:p>
                      <a:pPr marL="0" marR="0" algn="ctr">
                        <a:spcBef>
                          <a:spcPts val="0"/>
                        </a:spcBef>
                        <a:spcAft>
                          <a:spcPts val="0"/>
                        </a:spcAft>
                      </a:pPr>
                      <a:r>
                        <a:rPr lang="en-US"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JOHN MURESA</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T23-03-15878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BSC 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53337300"/>
                  </a:ext>
                </a:extLst>
              </a:tr>
              <a:tr h="426923">
                <a:tc>
                  <a:txBody>
                    <a:bodyPr/>
                    <a:lstStyle/>
                    <a:p>
                      <a:pPr marL="0" marR="0" algn="ctr">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ISMAIL ABDALLAH</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T23-03-15805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BSC 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02910187"/>
                  </a:ext>
                </a:extLst>
              </a:tr>
              <a:tr h="426923">
                <a:tc>
                  <a:txBody>
                    <a:bodyPr/>
                    <a:lstStyle/>
                    <a:p>
                      <a:pPr marL="0" marR="0" algn="ctr">
                        <a:spcBef>
                          <a:spcPts val="0"/>
                        </a:spcBef>
                        <a:spcAft>
                          <a:spcPts val="0"/>
                        </a:spcAft>
                      </a:pPr>
                      <a:r>
                        <a:rPr lang="en-US"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JOSEPHAT MARCO KAPELA</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T23-03-15007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BSC 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3043058"/>
                  </a:ext>
                </a:extLst>
              </a:tr>
              <a:tr h="426923">
                <a:tc>
                  <a:txBody>
                    <a:bodyPr/>
                    <a:lstStyle/>
                    <a:p>
                      <a:pPr marL="0" marR="0" algn="ctr">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MAGRETH ADRIAN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T23-03-16428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dirty="0">
                          <a:effectLst/>
                        </a:rPr>
                        <a:t>BSC CE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2793670"/>
                  </a:ext>
                </a:extLst>
              </a:tr>
            </a:tbl>
          </a:graphicData>
        </a:graphic>
      </p:graphicFrame>
      <p:pic>
        <p:nvPicPr>
          <p:cNvPr id="1025" name="Image 2" descr="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1114" y="531341"/>
            <a:ext cx="1927654" cy="180950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rot="10800000" flipV="1">
            <a:off x="4561059" y="119707"/>
            <a:ext cx="38277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THE UNIVERSITY OF DODOMA</a:t>
            </a:r>
            <a:endParaRPr kumimoji="0" lang="en-US" altLang="en-US" sz="11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4439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68876"/>
            <a:ext cx="9448800" cy="828584"/>
          </a:xfrm>
        </p:spPr>
        <p:txBody>
          <a:bodyPr>
            <a:normAutofit/>
          </a:bodyPr>
          <a:lstStyle/>
          <a:p>
            <a:r>
              <a:rPr lang="en-US" sz="3200" dirty="0"/>
              <a:t>ATmega32 External Event Object Counter</a:t>
            </a:r>
            <a:endParaRPr lang="en-US" sz="3200" dirty="0"/>
          </a:p>
        </p:txBody>
      </p:sp>
      <p:sp>
        <p:nvSpPr>
          <p:cNvPr id="3" name="Subtitle 2"/>
          <p:cNvSpPr>
            <a:spLocks noGrp="1"/>
          </p:cNvSpPr>
          <p:nvPr>
            <p:ph type="subTitle" idx="1"/>
          </p:nvPr>
        </p:nvSpPr>
        <p:spPr>
          <a:xfrm>
            <a:off x="1371600" y="2915509"/>
            <a:ext cx="9448800" cy="1681204"/>
          </a:xfrm>
        </p:spPr>
        <p:txBody>
          <a:bodyPr>
            <a:normAutofit/>
          </a:bodyPr>
          <a:lstStyle/>
          <a:p>
            <a:r>
              <a:rPr lang="en-US" dirty="0"/>
              <a:t>This project centers on the design, architectural formulation, and structural implementation of a reliable </a:t>
            </a:r>
            <a:r>
              <a:rPr lang="en-US" b="1" dirty="0"/>
              <a:t>External Event Object Counter</a:t>
            </a:r>
            <a:r>
              <a:rPr lang="en-US" dirty="0"/>
              <a:t> built around the high-performance, low-power </a:t>
            </a:r>
            <a:r>
              <a:rPr lang="en-US" b="1" dirty="0"/>
              <a:t>8-bit ATmega32 AVR RISC-based microcontroller</a:t>
            </a:r>
            <a:r>
              <a:rPr lang="en-US" dirty="0"/>
              <a:t>.</a:t>
            </a:r>
          </a:p>
        </p:txBody>
      </p:sp>
    </p:spTree>
    <p:extLst>
      <p:ext uri="{BB962C8B-B14F-4D97-AF65-F5344CB8AC3E}">
        <p14:creationId xmlns:p14="http://schemas.microsoft.com/office/powerpoint/2010/main" val="42870281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296778"/>
            <a:ext cx="9448800" cy="705017"/>
          </a:xfrm>
        </p:spPr>
        <p:txBody>
          <a:bodyPr>
            <a:normAutofit fontScale="90000"/>
          </a:bodyPr>
          <a:lstStyle/>
          <a:p>
            <a:r>
              <a:rPr lang="en-US" sz="2400" b="1" dirty="0"/>
              <a:t>Comprehensive Project Context &amp; Theoretical Problem Statement</a:t>
            </a:r>
            <a:endParaRPr lang="en-US" sz="2400" dirty="0"/>
          </a:p>
        </p:txBody>
      </p:sp>
      <p:sp>
        <p:nvSpPr>
          <p:cNvPr id="3" name="Subtitle 2"/>
          <p:cNvSpPr>
            <a:spLocks noGrp="1"/>
          </p:cNvSpPr>
          <p:nvPr>
            <p:ph type="subTitle" idx="1"/>
          </p:nvPr>
        </p:nvSpPr>
        <p:spPr>
          <a:xfrm>
            <a:off x="1371600" y="2298357"/>
            <a:ext cx="9448800" cy="3361038"/>
          </a:xfrm>
        </p:spPr>
        <p:txBody>
          <a:bodyPr>
            <a:normAutofit/>
          </a:bodyPr>
          <a:lstStyle/>
          <a:p>
            <a:endParaRPr lang="en-US" sz="1400" dirty="0"/>
          </a:p>
          <a:p>
            <a:pPr lvl="1" algn="l"/>
            <a:r>
              <a:rPr lang="en-US" sz="1400" b="1" dirty="0"/>
              <a:t>Industrial Context:</a:t>
            </a:r>
            <a:r>
              <a:rPr lang="en-US" sz="1400" dirty="0"/>
              <a:t> Automated manufacturing assembly lines, sorting facilities, and conveyor networks demand precise edge-point logging for high-speed moving parts.</a:t>
            </a:r>
          </a:p>
          <a:p>
            <a:pPr lvl="1" algn="l"/>
            <a:r>
              <a:rPr lang="en-US" sz="1400" b="1" dirty="0"/>
              <a:t>The Polling Paradigm Flaw:</a:t>
            </a:r>
            <a:r>
              <a:rPr lang="en-US" sz="1400" dirty="0"/>
              <a:t> Continuous execution loop polling—using sequential conditional checks like if (PIND &amp; (1 &lt;&lt; PD2)) inside a while(1) block—wastes CPU processing cycles and limits scaling.</a:t>
            </a:r>
          </a:p>
          <a:p>
            <a:pPr lvl="1" algn="l"/>
            <a:r>
              <a:rPr lang="en-US" sz="1400" b="1" dirty="0"/>
              <a:t>The Fatal Latency Window:</a:t>
            </a:r>
            <a:r>
              <a:rPr lang="en-US" sz="1400" dirty="0"/>
              <a:t> If a high-frequency object cuts a sensor beam while the CPU is executing multi-cycle LCD rendering updates or timing delay loops, the pulse transition goes entirely undetected.</a:t>
            </a:r>
          </a:p>
          <a:p>
            <a:pPr lvl="1" algn="l"/>
            <a:r>
              <a:rPr lang="en-US" sz="1400" b="1" dirty="0"/>
              <a:t>The Engineering Solution:</a:t>
            </a:r>
            <a:r>
              <a:rPr lang="en-US" sz="1400" dirty="0"/>
              <a:t> Transition the input signal path to a dedicated hardware-driven External Interrupt line ($INT0$). This completely separates input signal capture from visual output processes.</a:t>
            </a:r>
          </a:p>
          <a:p>
            <a:r>
              <a:rPr lang="en-US" sz="1400" b="1" dirty="0" smtClean="0"/>
              <a:t>        </a:t>
            </a:r>
            <a:endParaRPr lang="en-US" dirty="0"/>
          </a:p>
        </p:txBody>
      </p:sp>
    </p:spTree>
    <p:extLst>
      <p:ext uri="{BB962C8B-B14F-4D97-AF65-F5344CB8AC3E}">
        <p14:creationId xmlns:p14="http://schemas.microsoft.com/office/powerpoint/2010/main" val="6990507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7395" y="172313"/>
            <a:ext cx="9448800" cy="544379"/>
          </a:xfrm>
        </p:spPr>
        <p:txBody>
          <a:bodyPr>
            <a:normAutofit/>
          </a:bodyPr>
          <a:lstStyle/>
          <a:p>
            <a:pPr algn="ctr"/>
            <a:r>
              <a:rPr lang="en-US" sz="2400" b="1" dirty="0"/>
              <a:t>System Architecture &amp; Subsystem Deconstruction</a:t>
            </a:r>
            <a:endParaRPr lang="en-US" sz="2400" dirty="0"/>
          </a:p>
        </p:txBody>
      </p:sp>
      <p:sp>
        <p:nvSpPr>
          <p:cNvPr id="3" name="Subtitle 2"/>
          <p:cNvSpPr>
            <a:spLocks noGrp="1"/>
          </p:cNvSpPr>
          <p:nvPr>
            <p:ph type="subTitle" idx="1"/>
          </p:nvPr>
        </p:nvSpPr>
        <p:spPr>
          <a:xfrm>
            <a:off x="1371600" y="988540"/>
            <a:ext cx="9448800" cy="4979773"/>
          </a:xfrm>
        </p:spPr>
        <p:txBody>
          <a:bodyPr/>
          <a:lstStyle/>
          <a:p>
            <a:endParaRPr lang="en-US" dirty="0"/>
          </a:p>
          <a:p>
            <a:pPr lvl="1" algn="l"/>
            <a:r>
              <a:rPr lang="en-US" sz="1800" b="1" dirty="0"/>
              <a:t>Central Processing Core:</a:t>
            </a:r>
            <a:r>
              <a:rPr lang="en-US" sz="1800" dirty="0"/>
              <a:t> ATmega32 8-bit MCU running a low-power internal clock matrix</a:t>
            </a:r>
            <a:r>
              <a:rPr lang="en-US" sz="1800" dirty="0" smtClean="0"/>
              <a:t>.</a:t>
            </a:r>
          </a:p>
          <a:p>
            <a:pPr lvl="1" algn="l"/>
            <a:endParaRPr lang="en-US" sz="1800" dirty="0"/>
          </a:p>
          <a:p>
            <a:pPr lvl="1" algn="l"/>
            <a:r>
              <a:rPr lang="en-US" sz="1800" b="1" dirty="0"/>
              <a:t>Asynchronous Input Stage:</a:t>
            </a:r>
            <a:r>
              <a:rPr lang="en-US" sz="1800" dirty="0"/>
              <a:t> High-speed edge trigger sensor line routed straight to pin 16, corresponding to the hardware External Interrupt 0 pin ($PD2 / INT0</a:t>
            </a:r>
            <a:r>
              <a:rPr lang="en-US" sz="1800" dirty="0" smtClean="0"/>
              <a:t>$).</a:t>
            </a:r>
          </a:p>
          <a:p>
            <a:pPr lvl="1" algn="l"/>
            <a:endParaRPr lang="en-US" sz="1800" dirty="0"/>
          </a:p>
          <a:p>
            <a:pPr lvl="1" algn="l"/>
            <a:r>
              <a:rPr lang="en-US" sz="1800" b="1" dirty="0"/>
              <a:t>Visual Telemetry Interface:</a:t>
            </a:r>
            <a:r>
              <a:rPr lang="en-US" sz="1800" dirty="0"/>
              <a:t> High-bandwidth 8-bit parallel connection bus bridging Port C (PC0 through PC7) directly to an alphanumeric 16x2 LCD module</a:t>
            </a:r>
            <a:r>
              <a:rPr lang="en-US" sz="1800" dirty="0" smtClean="0"/>
              <a:t>.</a:t>
            </a:r>
          </a:p>
          <a:p>
            <a:pPr lvl="1" algn="l"/>
            <a:endParaRPr lang="en-US" sz="1800" dirty="0"/>
          </a:p>
          <a:p>
            <a:pPr lvl="1" algn="l"/>
            <a:r>
              <a:rPr lang="en-US" sz="1800" b="1" dirty="0"/>
              <a:t>Hardware Strobe Control Lines:</a:t>
            </a:r>
            <a:r>
              <a:rPr lang="en-US" sz="1800" dirty="0"/>
              <a:t> Dedicated General Purpose Input/Output (GPIO) pins assigned to Register Select (RS) for instruction parsing, and Enable (E) for locking data characters</a:t>
            </a:r>
            <a:r>
              <a:rPr lang="en-US" sz="1800" dirty="0" smtClean="0"/>
              <a:t>.</a:t>
            </a:r>
          </a:p>
          <a:p>
            <a:pPr lvl="1" algn="l"/>
            <a:endParaRPr lang="en-US" sz="1800" dirty="0"/>
          </a:p>
          <a:p>
            <a:pPr lvl="1" algn="l"/>
            <a:r>
              <a:rPr lang="en-US" sz="1800" b="1" dirty="0"/>
              <a:t>Local System Status Beacon:</a:t>
            </a:r>
            <a:r>
              <a:rPr lang="en-US" sz="1800" dirty="0"/>
              <a:t> An active-high, high-efficiency indicator LED tied to pin </a:t>
            </a:r>
            <a:r>
              <a:rPr lang="en-US" sz="1800" b="1" dirty="0"/>
              <a:t>PB2</a:t>
            </a:r>
            <a:r>
              <a:rPr lang="en-US" sz="1800" dirty="0"/>
              <a:t> to give immediate hardware confirmation for every counted pulse.</a:t>
            </a:r>
          </a:p>
          <a:p>
            <a:endParaRPr lang="en-US" dirty="0"/>
          </a:p>
        </p:txBody>
      </p:sp>
    </p:spTree>
    <p:extLst>
      <p:ext uri="{BB962C8B-B14F-4D97-AF65-F5344CB8AC3E}">
        <p14:creationId xmlns:p14="http://schemas.microsoft.com/office/powerpoint/2010/main" val="21396261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5103" y="98173"/>
            <a:ext cx="9448800" cy="544379"/>
          </a:xfrm>
        </p:spPr>
        <p:txBody>
          <a:bodyPr>
            <a:normAutofit/>
          </a:bodyPr>
          <a:lstStyle/>
          <a:p>
            <a:pPr algn="ctr"/>
            <a:r>
              <a:rPr lang="en-US" sz="2400" dirty="0"/>
              <a:t>Simple Code Settings (Registers)</a:t>
            </a:r>
            <a:endParaRPr lang="en-US" sz="2400" dirty="0"/>
          </a:p>
        </p:txBody>
      </p:sp>
      <p:sp>
        <p:nvSpPr>
          <p:cNvPr id="3" name="Subtitle 2"/>
          <p:cNvSpPr>
            <a:spLocks noGrp="1"/>
          </p:cNvSpPr>
          <p:nvPr>
            <p:ph type="subTitle" idx="1"/>
          </p:nvPr>
        </p:nvSpPr>
        <p:spPr>
          <a:xfrm>
            <a:off x="1371600" y="803189"/>
            <a:ext cx="9448800" cy="4831492"/>
          </a:xfrm>
        </p:spPr>
        <p:txBody>
          <a:bodyPr/>
          <a:lstStyle/>
          <a:p>
            <a:endParaRPr lang="en-US" dirty="0"/>
          </a:p>
          <a:p>
            <a:pPr lvl="1" algn="l"/>
            <a:r>
              <a:rPr lang="en-US" sz="1600" b="1" dirty="0" smtClean="0"/>
              <a:t>Port Direction Definitions:</a:t>
            </a:r>
            <a:endParaRPr lang="en-US" sz="1600" dirty="0" smtClean="0"/>
          </a:p>
          <a:p>
            <a:pPr lvl="2" algn="l"/>
            <a:r>
              <a:rPr lang="en-US" sz="1600" dirty="0" smtClean="0"/>
              <a:t>DDRC = 0xFF; Establishes Port C as an output bus for the LCD character grid.</a:t>
            </a:r>
          </a:p>
          <a:p>
            <a:pPr lvl="2" algn="l"/>
            <a:r>
              <a:rPr lang="en-US" sz="1600" dirty="0" smtClean="0"/>
              <a:t>DDRD &amp;= ~(1 &lt;&lt; PD2); Configures pin PD2 as a dedicated input line.</a:t>
            </a:r>
          </a:p>
          <a:p>
            <a:pPr lvl="1" algn="l"/>
            <a:r>
              <a:rPr lang="en-US" sz="1600" b="1" dirty="0" smtClean="0"/>
              <a:t>Pull-Up Noise Isolation:</a:t>
            </a:r>
            <a:endParaRPr lang="en-US" sz="1600" dirty="0" smtClean="0"/>
          </a:p>
          <a:p>
            <a:pPr lvl="2" algn="l"/>
            <a:r>
              <a:rPr lang="en-US" sz="1600" dirty="0" smtClean="0"/>
              <a:t>PORTD |= (1 &lt;&lt; PD2); Activates the internal pull-up resistor, keeping the input stable at $+5\text{V}$ and preventing floating line errors.</a:t>
            </a:r>
          </a:p>
          <a:p>
            <a:pPr lvl="1" algn="l"/>
            <a:r>
              <a:rPr lang="en-US" sz="1600" b="1" dirty="0" smtClean="0"/>
              <a:t>Hardware Edge Configuration:</a:t>
            </a:r>
            <a:endParaRPr lang="en-US" sz="1600" dirty="0" smtClean="0"/>
          </a:p>
          <a:p>
            <a:pPr lvl="2" algn="l"/>
            <a:r>
              <a:rPr lang="en-US" sz="1600" dirty="0" smtClean="0"/>
              <a:t>MCUCR |= (1 &lt;&lt; ISC01); MCUCR &amp;= ~(1 &lt;&lt; ISC00); Codes the Microcontroller Control Register to monitor for a clean </a:t>
            </a:r>
            <a:r>
              <a:rPr lang="en-US" sz="1600" b="1" dirty="0" smtClean="0"/>
              <a:t>falling edge</a:t>
            </a:r>
            <a:r>
              <a:rPr lang="en-US" sz="1600" dirty="0" smtClean="0"/>
              <a:t>.</a:t>
            </a:r>
          </a:p>
          <a:p>
            <a:pPr lvl="1" algn="l"/>
            <a:r>
              <a:rPr lang="en-US" sz="1600" b="1" dirty="0" smtClean="0"/>
              <a:t>Interrupt Masking &amp; Initialization:</a:t>
            </a:r>
            <a:endParaRPr lang="en-US" sz="1600" dirty="0" smtClean="0"/>
          </a:p>
          <a:p>
            <a:pPr lvl="2" algn="l"/>
            <a:r>
              <a:rPr lang="en-US" sz="1600" dirty="0" smtClean="0"/>
              <a:t>GICR |= (1 &lt;&lt; INT0); Unmasks the external interrupt channel.</a:t>
            </a:r>
          </a:p>
          <a:p>
            <a:pPr lvl="2" algn="l"/>
            <a:r>
              <a:rPr lang="en-US" sz="1600" dirty="0" smtClean="0"/>
              <a:t>sei(); Activates global execution by setting the assembly I-bit inside the status register (SREG).</a:t>
            </a:r>
          </a:p>
          <a:p>
            <a:endParaRPr lang="en-US" dirty="0"/>
          </a:p>
        </p:txBody>
      </p:sp>
    </p:spTree>
    <p:extLst>
      <p:ext uri="{BB962C8B-B14F-4D97-AF65-F5344CB8AC3E}">
        <p14:creationId xmlns:p14="http://schemas.microsoft.com/office/powerpoint/2010/main" val="39185459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4465" y="147600"/>
            <a:ext cx="9448800" cy="853298"/>
          </a:xfrm>
        </p:spPr>
        <p:txBody>
          <a:bodyPr>
            <a:normAutofit/>
          </a:bodyPr>
          <a:lstStyle/>
          <a:p>
            <a:pPr algn="ctr"/>
            <a:r>
              <a:rPr lang="en-US" sz="2400" b="1" dirty="0"/>
              <a:t>Firmware Flow, Stack Management &amp; Asynchronous Execution</a:t>
            </a:r>
            <a:endParaRPr lang="en-US" sz="2400" dirty="0"/>
          </a:p>
        </p:txBody>
      </p:sp>
      <p:sp>
        <p:nvSpPr>
          <p:cNvPr id="3" name="Subtitle 2"/>
          <p:cNvSpPr>
            <a:spLocks noGrp="1"/>
          </p:cNvSpPr>
          <p:nvPr>
            <p:ph type="subTitle" idx="1"/>
          </p:nvPr>
        </p:nvSpPr>
        <p:spPr>
          <a:xfrm>
            <a:off x="1371600" y="1173892"/>
            <a:ext cx="9448800" cy="5165124"/>
          </a:xfrm>
        </p:spPr>
        <p:txBody>
          <a:bodyPr/>
          <a:lstStyle/>
          <a:p>
            <a:endParaRPr lang="en-US" dirty="0"/>
          </a:p>
          <a:p>
            <a:pPr lvl="1" algn="l"/>
            <a:r>
              <a:rPr lang="en-US" sz="1600" b="1" dirty="0"/>
              <a:t>The Background Loop Execution:</a:t>
            </a:r>
            <a:r>
              <a:rPr lang="en-US" sz="1600" dirty="0"/>
              <a:t> Main program path executes a continuous task loop focused on string conversion (</a:t>
            </a:r>
            <a:r>
              <a:rPr lang="en-US" sz="1600" dirty="0" err="1"/>
              <a:t>itoa</a:t>
            </a:r>
            <a:r>
              <a:rPr lang="en-US" sz="1600" dirty="0"/>
              <a:t>), status checks, and redrawing data onto the LCD</a:t>
            </a:r>
            <a:r>
              <a:rPr lang="en-US" sz="1600" dirty="0" smtClean="0"/>
              <a:t>.</a:t>
            </a:r>
          </a:p>
          <a:p>
            <a:pPr lvl="1" algn="l"/>
            <a:endParaRPr lang="en-US" sz="1600" dirty="0"/>
          </a:p>
          <a:p>
            <a:pPr lvl="1" algn="l"/>
            <a:r>
              <a:rPr lang="en-US" sz="1600" b="1" dirty="0"/>
              <a:t>The Asynchronous Event Trigger:</a:t>
            </a:r>
            <a:r>
              <a:rPr lang="en-US" sz="1600" dirty="0"/>
              <a:t> When an object triggers the sensor, the CPU immediately pauses main loop operations, saves its position by pushing the program counter to the hardware stack, and jumps to the interrupt vector table</a:t>
            </a:r>
            <a:r>
              <a:rPr lang="en-US" sz="1600" dirty="0" smtClean="0"/>
              <a:t>.</a:t>
            </a:r>
          </a:p>
          <a:p>
            <a:pPr lvl="1" algn="l"/>
            <a:endParaRPr lang="en-US" sz="1600" dirty="0"/>
          </a:p>
          <a:p>
            <a:pPr lvl="1" algn="l"/>
            <a:r>
              <a:rPr lang="en-US" sz="1600" b="1" dirty="0"/>
              <a:t>Vector Target:</a:t>
            </a:r>
            <a:r>
              <a:rPr lang="en-US" sz="1600" dirty="0"/>
              <a:t> ISR(INT0_vect) execution path</a:t>
            </a:r>
            <a:r>
              <a:rPr lang="en-US" sz="1600" dirty="0" smtClean="0"/>
              <a:t>.</a:t>
            </a:r>
          </a:p>
          <a:p>
            <a:pPr lvl="1" algn="l"/>
            <a:endParaRPr lang="en-US" sz="1600" dirty="0"/>
          </a:p>
          <a:p>
            <a:pPr lvl="1" algn="l"/>
            <a:r>
              <a:rPr lang="en-US" sz="1600" b="1" dirty="0"/>
              <a:t>Vector Operations Phase:</a:t>
            </a:r>
            <a:endParaRPr lang="en-US" sz="1600" dirty="0"/>
          </a:p>
          <a:p>
            <a:pPr lvl="2" algn="l"/>
            <a:r>
              <a:rPr lang="en-US" sz="1600" dirty="0"/>
              <a:t>Increments the </a:t>
            </a:r>
            <a:r>
              <a:rPr lang="en-US" sz="1600" dirty="0" err="1"/>
              <a:t>objectCount</a:t>
            </a:r>
            <a:r>
              <a:rPr lang="en-US" sz="1600" dirty="0"/>
              <a:t> tracking variable directly inside the internal RAM.</a:t>
            </a:r>
          </a:p>
          <a:p>
            <a:pPr lvl="2" algn="l"/>
            <a:r>
              <a:rPr lang="en-US" sz="1600" dirty="0"/>
              <a:t>Toggles pin PB2 High to drive the status indicator LED.</a:t>
            </a:r>
          </a:p>
          <a:p>
            <a:pPr lvl="2" algn="l"/>
            <a:r>
              <a:rPr lang="en-US" sz="1600" dirty="0"/>
              <a:t>Executes a brief software window to </a:t>
            </a:r>
            <a:r>
              <a:rPr lang="en-US" sz="1600" dirty="0" err="1"/>
              <a:t>debounce</a:t>
            </a:r>
            <a:r>
              <a:rPr lang="en-US" sz="1600" dirty="0"/>
              <a:t> input signals.</a:t>
            </a:r>
          </a:p>
          <a:p>
            <a:pPr lvl="2" algn="l"/>
            <a:r>
              <a:rPr lang="en-US" sz="1600" dirty="0"/>
              <a:t>Pulls pin PB2 Low, pops the stack, and returns straight to the background loop.</a:t>
            </a:r>
          </a:p>
          <a:p>
            <a:endParaRPr lang="en-US" dirty="0"/>
          </a:p>
        </p:txBody>
      </p:sp>
    </p:spTree>
    <p:extLst>
      <p:ext uri="{BB962C8B-B14F-4D97-AF65-F5344CB8AC3E}">
        <p14:creationId xmlns:p14="http://schemas.microsoft.com/office/powerpoint/2010/main" val="39641470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47600"/>
            <a:ext cx="9448800" cy="581449"/>
          </a:xfrm>
        </p:spPr>
        <p:txBody>
          <a:bodyPr>
            <a:normAutofit/>
          </a:bodyPr>
          <a:lstStyle/>
          <a:p>
            <a:pPr algn="ctr"/>
            <a:r>
              <a:rPr lang="en-US" sz="2400" b="1" dirty="0"/>
              <a:t>System Schematic Capture Design</a:t>
            </a:r>
            <a:endParaRPr lang="en-US" sz="2400" dirty="0"/>
          </a:p>
        </p:txBody>
      </p:sp>
      <p:sp>
        <p:nvSpPr>
          <p:cNvPr id="3" name="Subtitle 2"/>
          <p:cNvSpPr>
            <a:spLocks noGrp="1"/>
          </p:cNvSpPr>
          <p:nvPr>
            <p:ph type="subTitle" idx="1"/>
          </p:nvPr>
        </p:nvSpPr>
        <p:spPr>
          <a:xfrm>
            <a:off x="1371600" y="926756"/>
            <a:ext cx="9448800" cy="4559643"/>
          </a:xfrm>
        </p:spPr>
        <p:txBody>
          <a:bodyPr/>
          <a:lstStyle/>
          <a:p>
            <a:endParaRPr lang="en-US" dirty="0"/>
          </a:p>
          <a:p>
            <a:pPr lvl="1" algn="l"/>
            <a:r>
              <a:rPr lang="en-US" sz="1800" dirty="0"/>
              <a:t>Full design capture using the professional </a:t>
            </a:r>
            <a:r>
              <a:rPr lang="en-US" sz="1800" b="1" dirty="0"/>
              <a:t>KiCad Electronic Design Automation (EDA)</a:t>
            </a:r>
            <a:r>
              <a:rPr lang="en-US" sz="1800" dirty="0"/>
              <a:t> software suite</a:t>
            </a:r>
            <a:r>
              <a:rPr lang="en-US" sz="1800" dirty="0" smtClean="0"/>
              <a:t>.</a:t>
            </a:r>
          </a:p>
          <a:p>
            <a:pPr lvl="1" algn="l"/>
            <a:endParaRPr lang="en-US" sz="1800" dirty="0"/>
          </a:p>
          <a:p>
            <a:pPr lvl="1" algn="l"/>
            <a:r>
              <a:rPr lang="en-US" sz="1800" dirty="0"/>
              <a:t>Pin-accurate connections modeled for the dual-in-line 40-pin (DIP-40) ATmega32 socket footprint.</a:t>
            </a:r>
          </a:p>
          <a:p>
            <a:pPr lvl="1" algn="l"/>
            <a:r>
              <a:rPr lang="en-US" sz="1800" dirty="0"/>
              <a:t>Clean decoupling capacitor placement across power rails to smooth out voltage ripples.</a:t>
            </a:r>
          </a:p>
          <a:p>
            <a:pPr lvl="1" algn="l"/>
            <a:r>
              <a:rPr lang="en-US" sz="1800" dirty="0"/>
              <a:t>Standardized terminal block placements for power, external sensor connections, and peripheral links.</a:t>
            </a:r>
          </a:p>
          <a:p>
            <a:endParaRPr lang="en-US" dirty="0"/>
          </a:p>
        </p:txBody>
      </p:sp>
    </p:spTree>
    <p:extLst>
      <p:ext uri="{BB962C8B-B14F-4D97-AF65-F5344CB8AC3E}">
        <p14:creationId xmlns:p14="http://schemas.microsoft.com/office/powerpoint/2010/main" val="15840349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617" y="102974"/>
            <a:ext cx="6873240" cy="897924"/>
          </a:xfrm>
        </p:spPr>
        <p:txBody>
          <a:bodyPr>
            <a:normAutofit/>
          </a:bodyPr>
          <a:lstStyle/>
          <a:p>
            <a:pPr algn="ctr"/>
            <a:r>
              <a:rPr lang="en-US" sz="1600" b="1" dirty="0"/>
              <a:t>Complete </a:t>
            </a:r>
            <a:r>
              <a:rPr lang="en-US" sz="1600" b="1" dirty="0" smtClean="0"/>
              <a:t>KiCad  Schematic </a:t>
            </a:r>
            <a:r>
              <a:rPr lang="en-US" sz="1600" b="1" dirty="0"/>
              <a:t>Sheet showing all components and wire nets</a:t>
            </a:r>
            <a:endParaRPr lang="en-US" sz="16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38" r="559"/>
          <a:stretch/>
        </p:blipFill>
        <p:spPr>
          <a:xfrm>
            <a:off x="2792627" y="1245511"/>
            <a:ext cx="5857103" cy="5467443"/>
          </a:xfrm>
        </p:spPr>
      </p:pic>
    </p:spTree>
    <p:extLst>
      <p:ext uri="{BB962C8B-B14F-4D97-AF65-F5344CB8AC3E}">
        <p14:creationId xmlns:p14="http://schemas.microsoft.com/office/powerpoint/2010/main" val="7564343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48032" y="172994"/>
            <a:ext cx="9448800" cy="778477"/>
          </a:xfrm>
        </p:spPr>
        <p:txBody>
          <a:bodyPr>
            <a:normAutofit fontScale="90000"/>
          </a:bodyPr>
          <a:lstStyle/>
          <a:p>
            <a:pPr algn="ctr"/>
            <a:r>
              <a:rPr lang="en-US" dirty="0"/>
              <a:t/>
            </a:r>
            <a:br>
              <a:rPr lang="en-US" dirty="0"/>
            </a:br>
            <a:r>
              <a:rPr lang="en-US" sz="2700" b="1" dirty="0"/>
              <a:t>Functional Simulation Emulation &amp; Validation testing</a:t>
            </a:r>
            <a:endParaRPr lang="en-US" sz="2700" dirty="0"/>
          </a:p>
        </p:txBody>
      </p:sp>
      <p:sp>
        <p:nvSpPr>
          <p:cNvPr id="3" name="Subtitle 2"/>
          <p:cNvSpPr>
            <a:spLocks noGrp="1"/>
          </p:cNvSpPr>
          <p:nvPr>
            <p:ph type="subTitle" idx="1"/>
          </p:nvPr>
        </p:nvSpPr>
        <p:spPr>
          <a:xfrm>
            <a:off x="1359243" y="1334529"/>
            <a:ext cx="9448800" cy="4176584"/>
          </a:xfrm>
        </p:spPr>
        <p:txBody>
          <a:bodyPr/>
          <a:lstStyle/>
          <a:p>
            <a:endParaRPr lang="en-US" sz="1600" dirty="0"/>
          </a:p>
          <a:p>
            <a:pPr lvl="1" algn="l"/>
            <a:r>
              <a:rPr lang="en-US" sz="1600" b="1" dirty="0"/>
              <a:t>Testbed Toolchain:</a:t>
            </a:r>
            <a:r>
              <a:rPr lang="en-US" sz="1600" dirty="0"/>
              <a:t> Simulated environment verified inside the </a:t>
            </a:r>
            <a:r>
              <a:rPr lang="en-US" sz="1600" b="1" dirty="0"/>
              <a:t>SimulIDE engine</a:t>
            </a:r>
            <a:r>
              <a:rPr lang="en-US" sz="1600" dirty="0" smtClean="0"/>
              <a:t>.</a:t>
            </a:r>
          </a:p>
          <a:p>
            <a:pPr lvl="1" algn="l"/>
            <a:endParaRPr lang="en-US" sz="1600" dirty="0"/>
          </a:p>
          <a:p>
            <a:pPr lvl="1" algn="l"/>
            <a:r>
              <a:rPr lang="en-US" sz="1600" b="1" dirty="0"/>
              <a:t>Functional Evaluation:</a:t>
            </a:r>
            <a:r>
              <a:rPr lang="en-US" sz="1600" dirty="0"/>
              <a:t> The compiled .hex machine file was injected into the virtual ATmega32 core model</a:t>
            </a:r>
            <a:r>
              <a:rPr lang="en-US" sz="1600" dirty="0" smtClean="0"/>
              <a:t>.</a:t>
            </a:r>
          </a:p>
          <a:p>
            <a:pPr lvl="1" algn="l"/>
            <a:endParaRPr lang="en-US" sz="1600" dirty="0"/>
          </a:p>
          <a:p>
            <a:pPr lvl="1" algn="l"/>
            <a:r>
              <a:rPr lang="en-US" sz="1600" b="1" dirty="0"/>
              <a:t>Dynamic Pulse Stress Testing:</a:t>
            </a:r>
            <a:r>
              <a:rPr lang="en-US" sz="1600" dirty="0"/>
              <a:t> Input signal sources injected continuous square-wave pulses up to 50 Hz directly into the input line</a:t>
            </a:r>
            <a:r>
              <a:rPr lang="en-US" sz="1600" dirty="0" smtClean="0"/>
              <a:t>.</a:t>
            </a:r>
          </a:p>
          <a:p>
            <a:pPr lvl="1" algn="l"/>
            <a:endParaRPr lang="en-US" sz="1600" dirty="0"/>
          </a:p>
          <a:p>
            <a:pPr lvl="1" algn="l"/>
            <a:r>
              <a:rPr lang="en-US" sz="1600" b="1" dirty="0"/>
              <a:t>Observed Performance:</a:t>
            </a:r>
            <a:r>
              <a:rPr lang="en-US" sz="1600" dirty="0"/>
              <a:t> The interrupt system captured 100% of incoming signals, successfully displaying real-time text counts on the LCD panel with zero software lockups.</a:t>
            </a:r>
          </a:p>
          <a:p>
            <a:endParaRPr lang="en-US" dirty="0"/>
          </a:p>
        </p:txBody>
      </p:sp>
    </p:spTree>
    <p:extLst>
      <p:ext uri="{BB962C8B-B14F-4D97-AF65-F5344CB8AC3E}">
        <p14:creationId xmlns:p14="http://schemas.microsoft.com/office/powerpoint/2010/main" val="12751416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939" y="238897"/>
            <a:ext cx="10287001" cy="724930"/>
          </a:xfrm>
        </p:spPr>
        <p:txBody>
          <a:bodyPr>
            <a:normAutofit/>
          </a:bodyPr>
          <a:lstStyle/>
          <a:p>
            <a:pPr algn="ctr"/>
            <a:r>
              <a:rPr lang="en-US" sz="1800" b="1" dirty="0"/>
              <a:t>Active SimulIDE workspace running the simulation</a:t>
            </a:r>
            <a:endParaRPr lang="en-US" sz="18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72" t="226" r="553" b="-226"/>
          <a:stretch/>
        </p:blipFill>
        <p:spPr>
          <a:xfrm>
            <a:off x="2730843" y="1294938"/>
            <a:ext cx="6623222" cy="5467443"/>
          </a:xfrm>
        </p:spPr>
      </p:pic>
    </p:spTree>
    <p:extLst>
      <p:ext uri="{BB962C8B-B14F-4D97-AF65-F5344CB8AC3E}">
        <p14:creationId xmlns:p14="http://schemas.microsoft.com/office/powerpoint/2010/main" val="796899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216" y="115330"/>
            <a:ext cx="9483810" cy="737286"/>
          </a:xfrm>
        </p:spPr>
        <p:txBody>
          <a:bodyPr>
            <a:normAutofit/>
          </a:bodyPr>
          <a:lstStyle/>
          <a:p>
            <a:pPr algn="ctr"/>
            <a:r>
              <a:rPr lang="en-US" sz="1800" b="1" dirty="0" smtClean="0"/>
              <a:t>SimulIDE </a:t>
            </a:r>
            <a:r>
              <a:rPr lang="en-US" sz="1800" b="1" dirty="0"/>
              <a:t>workspace </a:t>
            </a:r>
            <a:r>
              <a:rPr lang="en-US" sz="1800" b="1" dirty="0" smtClean="0"/>
              <a:t>STOPPING the </a:t>
            </a:r>
            <a:r>
              <a:rPr lang="en-US" sz="1800" b="1" dirty="0"/>
              <a:t>simulation</a:t>
            </a:r>
            <a:endParaRPr lang="en-US" sz="18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463" r="342"/>
          <a:stretch/>
        </p:blipFill>
        <p:spPr>
          <a:xfrm>
            <a:off x="2560937" y="1035447"/>
            <a:ext cx="6524367" cy="5467443"/>
          </a:xfrm>
        </p:spPr>
      </p:pic>
    </p:spTree>
    <p:extLst>
      <p:ext uri="{BB962C8B-B14F-4D97-AF65-F5344CB8AC3E}">
        <p14:creationId xmlns:p14="http://schemas.microsoft.com/office/powerpoint/2010/main" val="27905795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09383"/>
            <a:ext cx="9448800" cy="519665"/>
          </a:xfrm>
        </p:spPr>
        <p:txBody>
          <a:bodyPr>
            <a:normAutofit/>
          </a:bodyPr>
          <a:lstStyle/>
          <a:p>
            <a:pPr algn="ctr"/>
            <a:r>
              <a:rPr lang="en-US" sz="2400" b="1" dirty="0"/>
              <a:t>Advanced Single-Layer PCB Optimization Strategies</a:t>
            </a:r>
            <a:endParaRPr lang="en-US" sz="2400" dirty="0"/>
          </a:p>
        </p:txBody>
      </p:sp>
      <p:sp>
        <p:nvSpPr>
          <p:cNvPr id="3" name="Subtitle 2"/>
          <p:cNvSpPr>
            <a:spLocks noGrp="1"/>
          </p:cNvSpPr>
          <p:nvPr>
            <p:ph type="subTitle" idx="1"/>
          </p:nvPr>
        </p:nvSpPr>
        <p:spPr>
          <a:xfrm>
            <a:off x="1371600" y="840259"/>
            <a:ext cx="9448800" cy="4460790"/>
          </a:xfrm>
        </p:spPr>
        <p:txBody>
          <a:bodyPr/>
          <a:lstStyle/>
          <a:p>
            <a:endParaRPr lang="en-US" dirty="0"/>
          </a:p>
          <a:p>
            <a:pPr lvl="1" algn="l"/>
            <a:r>
              <a:rPr lang="en-US" sz="1600" b="1" dirty="0"/>
              <a:t>Manufacturing Constraint:</a:t>
            </a:r>
            <a:r>
              <a:rPr lang="en-US" sz="1600" dirty="0"/>
              <a:t> Restricted to a single-sided copper layout, meaning tracks cannot use vias to pass through to alternate board layers</a:t>
            </a:r>
            <a:r>
              <a:rPr lang="en-US" sz="1600" dirty="0" smtClean="0"/>
              <a:t>.</a:t>
            </a:r>
          </a:p>
          <a:p>
            <a:pPr lvl="1" algn="l"/>
            <a:endParaRPr lang="en-US" sz="1600" dirty="0"/>
          </a:p>
          <a:p>
            <a:pPr lvl="1" algn="l"/>
            <a:r>
              <a:rPr lang="en-US" sz="1600" b="1" dirty="0"/>
              <a:t>Curved Trace Tracking Geometry:</a:t>
            </a:r>
            <a:r>
              <a:rPr lang="en-US" sz="1600" dirty="0"/>
              <a:t> Swapped out standard 45-degree trace angles for smooth, rounded </a:t>
            </a:r>
            <a:r>
              <a:rPr lang="en-US" sz="1600" b="1" dirty="0"/>
              <a:t>Curved Traces</a:t>
            </a:r>
            <a:r>
              <a:rPr lang="en-US" sz="1600" dirty="0"/>
              <a:t> along the 8-bit data bus to optimize track spacing</a:t>
            </a:r>
            <a:r>
              <a:rPr lang="en-US" sz="1600" dirty="0" smtClean="0"/>
              <a:t>.</a:t>
            </a:r>
          </a:p>
          <a:p>
            <a:pPr lvl="1" algn="l"/>
            <a:endParaRPr lang="en-US" sz="1600" dirty="0"/>
          </a:p>
          <a:p>
            <a:pPr lvl="1" algn="l"/>
            <a:r>
              <a:rPr lang="en-US" sz="1600" b="1" dirty="0"/>
              <a:t>Central Channel Bridging:</a:t>
            </a:r>
            <a:r>
              <a:rPr lang="en-US" sz="1600" dirty="0"/>
              <a:t> System power rails and ground returns are routed directly through the vacant space under the central socket of the ATmega32 chip to save board space</a:t>
            </a:r>
            <a:r>
              <a:rPr lang="en-US" sz="1600" dirty="0" smtClean="0"/>
              <a:t>.</a:t>
            </a:r>
          </a:p>
          <a:p>
            <a:pPr lvl="1" algn="l"/>
            <a:endParaRPr lang="en-US" sz="1600" dirty="0"/>
          </a:p>
          <a:p>
            <a:pPr lvl="1" algn="l"/>
            <a:r>
              <a:rPr lang="en-US" sz="1600" b="1" dirty="0"/>
              <a:t>Jumperless Optimization:</a:t>
            </a:r>
            <a:r>
              <a:rPr lang="en-US" sz="1600" dirty="0"/>
              <a:t> Traces are carefully routed directly beneath stationary axial resistor bodies, using the component bodies as insulation bridges to eliminate jumper wires.</a:t>
            </a:r>
          </a:p>
          <a:p>
            <a:endParaRPr lang="en-US" dirty="0"/>
          </a:p>
        </p:txBody>
      </p:sp>
    </p:spTree>
    <p:extLst>
      <p:ext uri="{BB962C8B-B14F-4D97-AF65-F5344CB8AC3E}">
        <p14:creationId xmlns:p14="http://schemas.microsoft.com/office/powerpoint/2010/main" val="24969384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6697" y="90616"/>
            <a:ext cx="6873240" cy="774357"/>
          </a:xfrm>
        </p:spPr>
        <p:txBody>
          <a:bodyPr>
            <a:normAutofit/>
          </a:bodyPr>
          <a:lstStyle/>
          <a:p>
            <a:pPr algn="ctr"/>
            <a:r>
              <a:rPr lang="en-US" sz="1800" b="1" dirty="0"/>
              <a:t>KiCad 2D Copper Trace PCB Layout Grid showing curved paths</a:t>
            </a:r>
            <a:endParaRPr lang="en-US" sz="18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212" r="274"/>
          <a:stretch/>
        </p:blipFill>
        <p:spPr>
          <a:xfrm>
            <a:off x="1686697" y="1245512"/>
            <a:ext cx="7278129" cy="5467443"/>
          </a:xfrm>
        </p:spPr>
      </p:pic>
    </p:spTree>
    <p:extLst>
      <p:ext uri="{BB962C8B-B14F-4D97-AF65-F5344CB8AC3E}">
        <p14:creationId xmlns:p14="http://schemas.microsoft.com/office/powerpoint/2010/main" val="26204841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19447"/>
            <a:ext cx="9448800" cy="507309"/>
          </a:xfrm>
        </p:spPr>
        <p:txBody>
          <a:bodyPr>
            <a:normAutofit/>
          </a:bodyPr>
          <a:lstStyle/>
          <a:p>
            <a:pPr algn="ctr"/>
            <a:r>
              <a:rPr lang="en-US" sz="2400" b="1" dirty="0"/>
              <a:t>3D Mechanical Inspection &amp; Layout Audit</a:t>
            </a:r>
            <a:endParaRPr lang="en-US" sz="2400" dirty="0"/>
          </a:p>
        </p:txBody>
      </p:sp>
      <p:sp>
        <p:nvSpPr>
          <p:cNvPr id="3" name="Subtitle 2"/>
          <p:cNvSpPr>
            <a:spLocks noGrp="1"/>
          </p:cNvSpPr>
          <p:nvPr>
            <p:ph type="subTitle" idx="1"/>
          </p:nvPr>
        </p:nvSpPr>
        <p:spPr>
          <a:xfrm>
            <a:off x="1470454" y="1371600"/>
            <a:ext cx="9448800" cy="4114800"/>
          </a:xfrm>
        </p:spPr>
        <p:txBody>
          <a:bodyPr/>
          <a:lstStyle/>
          <a:p>
            <a:endParaRPr lang="en-US" dirty="0"/>
          </a:p>
          <a:p>
            <a:pPr lvl="1" algn="l"/>
            <a:r>
              <a:rPr lang="en-US" sz="1600" b="1" dirty="0"/>
              <a:t>Automated Inspection:</a:t>
            </a:r>
            <a:r>
              <a:rPr lang="en-US" sz="1600" dirty="0"/>
              <a:t> Layout checked via KiCad’s internal </a:t>
            </a:r>
            <a:r>
              <a:rPr lang="en-US" sz="1600" b="1" dirty="0"/>
              <a:t>Design Rules Check (DRC)</a:t>
            </a:r>
            <a:r>
              <a:rPr lang="en-US" sz="1600" dirty="0"/>
              <a:t> engine</a:t>
            </a:r>
            <a:r>
              <a:rPr lang="en-US" sz="1600" dirty="0" smtClean="0"/>
              <a:t>.</a:t>
            </a:r>
          </a:p>
          <a:p>
            <a:pPr lvl="1" algn="l"/>
            <a:endParaRPr lang="en-US" sz="1600" dirty="0"/>
          </a:p>
          <a:p>
            <a:pPr lvl="1" algn="l"/>
            <a:r>
              <a:rPr lang="en-US" sz="1600" b="1" dirty="0"/>
              <a:t>Audit Metrics:</a:t>
            </a:r>
            <a:r>
              <a:rPr lang="en-US" sz="1600" dirty="0"/>
              <a:t> Confirmed 0 unconnected nets, 0 track clearance errors, and 0 thermal pad issues</a:t>
            </a:r>
            <a:r>
              <a:rPr lang="en-US" sz="1600" dirty="0" smtClean="0"/>
              <a:t>.</a:t>
            </a:r>
          </a:p>
          <a:p>
            <a:pPr lvl="1" algn="l"/>
            <a:endParaRPr lang="en-US" sz="1600" dirty="0"/>
          </a:p>
          <a:p>
            <a:pPr lvl="1" algn="l"/>
            <a:r>
              <a:rPr lang="en-US" sz="1600" b="1" dirty="0"/>
              <a:t>3D Mechanical Alignment:</a:t>
            </a:r>
            <a:r>
              <a:rPr lang="en-US" sz="1600" dirty="0"/>
              <a:t> Verified physical spacing clearances for terminal blocks, trimmer resistors, and display headers.</a:t>
            </a:r>
          </a:p>
          <a:p>
            <a:pPr lvl="1" algn="l"/>
            <a:r>
              <a:rPr lang="en-US" sz="1600" dirty="0"/>
              <a:t>Industrial fabrication files generated via full </a:t>
            </a:r>
            <a:r>
              <a:rPr lang="en-US" sz="1600" b="1" dirty="0"/>
              <a:t>Gerber data package export</a:t>
            </a:r>
            <a:r>
              <a:rPr lang="en-US" sz="1600" dirty="0"/>
              <a:t>.</a:t>
            </a:r>
          </a:p>
          <a:p>
            <a:endParaRPr lang="en-US" dirty="0"/>
          </a:p>
        </p:txBody>
      </p:sp>
    </p:spTree>
    <p:extLst>
      <p:ext uri="{BB962C8B-B14F-4D97-AF65-F5344CB8AC3E}">
        <p14:creationId xmlns:p14="http://schemas.microsoft.com/office/powerpoint/2010/main" val="39263540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0329" y="333632"/>
            <a:ext cx="6873240" cy="407773"/>
          </a:xfrm>
        </p:spPr>
        <p:txBody>
          <a:bodyPr>
            <a:normAutofit/>
          </a:bodyPr>
          <a:lstStyle/>
          <a:p>
            <a:pPr algn="ctr"/>
            <a:r>
              <a:rPr lang="en-US" sz="1800" b="1" dirty="0"/>
              <a:t>KiCad 3D Viewer Renders showing Top Component </a:t>
            </a:r>
            <a:endParaRPr lang="en-US" sz="18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838" t="2079" r="110" b="1"/>
          <a:stretch/>
        </p:blipFill>
        <p:spPr>
          <a:xfrm>
            <a:off x="1686697" y="1136821"/>
            <a:ext cx="8143103" cy="5353711"/>
          </a:xfrm>
        </p:spPr>
      </p:pic>
    </p:spTree>
    <p:extLst>
      <p:ext uri="{BB962C8B-B14F-4D97-AF65-F5344CB8AC3E}">
        <p14:creationId xmlns:p14="http://schemas.microsoft.com/office/powerpoint/2010/main" val="39358398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1500" y="76200"/>
            <a:ext cx="6873240" cy="723900"/>
          </a:xfrm>
        </p:spPr>
        <p:txBody>
          <a:bodyPr>
            <a:noAutofit/>
          </a:bodyPr>
          <a:lstStyle/>
          <a:p>
            <a:pPr algn="ctr"/>
            <a:r>
              <a:rPr lang="en-US" sz="2000" b="1" dirty="0"/>
              <a:t>KiCad 3D Viewer Renders showing Bottom Copper Trace views </a:t>
            </a:r>
            <a:endParaRPr lang="en-US" sz="2000"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456" t="893" r="560" b="-1"/>
          <a:stretch/>
        </p:blipFill>
        <p:spPr>
          <a:xfrm>
            <a:off x="1574800" y="1219200"/>
            <a:ext cx="8343900" cy="5418584"/>
          </a:xfrm>
        </p:spPr>
      </p:pic>
    </p:spTree>
    <p:extLst>
      <p:ext uri="{BB962C8B-B14F-4D97-AF65-F5344CB8AC3E}">
        <p14:creationId xmlns:p14="http://schemas.microsoft.com/office/powerpoint/2010/main" val="2732310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84670"/>
            <a:ext cx="9448800" cy="1162217"/>
          </a:xfrm>
        </p:spPr>
        <p:txBody>
          <a:bodyPr>
            <a:normAutofit/>
          </a:bodyPr>
          <a:lstStyle/>
          <a:p>
            <a:pPr algn="ctr"/>
            <a:r>
              <a:rPr lang="en-US" sz="2700" b="1" dirty="0" smtClean="0"/>
              <a:t>Engineering </a:t>
            </a:r>
            <a:r>
              <a:rPr lang="en-US" sz="2700" b="1" dirty="0"/>
              <a:t>Directory Architecture &amp; Version Control</a:t>
            </a:r>
            <a:endParaRPr lang="en-US" sz="2700" dirty="0"/>
          </a:p>
        </p:txBody>
      </p:sp>
      <p:sp>
        <p:nvSpPr>
          <p:cNvPr id="3" name="Subtitle 2"/>
          <p:cNvSpPr>
            <a:spLocks noGrp="1"/>
          </p:cNvSpPr>
          <p:nvPr>
            <p:ph type="subTitle" idx="1"/>
          </p:nvPr>
        </p:nvSpPr>
        <p:spPr>
          <a:xfrm>
            <a:off x="1371600" y="1346886"/>
            <a:ext cx="9448800" cy="4893275"/>
          </a:xfrm>
        </p:spPr>
        <p:txBody>
          <a:bodyPr/>
          <a:lstStyle/>
          <a:p>
            <a:endParaRPr lang="en-US" dirty="0"/>
          </a:p>
          <a:p>
            <a:pPr lvl="1" algn="l"/>
            <a:r>
              <a:rPr lang="en-US" sz="1800" b="1" dirty="0"/>
              <a:t>Industry-Standard Architecture:</a:t>
            </a:r>
            <a:r>
              <a:rPr lang="en-US" sz="1800" dirty="0"/>
              <a:t> Modular file organization built into a structured project directory.</a:t>
            </a:r>
          </a:p>
          <a:p>
            <a:pPr lvl="1" algn="l"/>
            <a:r>
              <a:rPr lang="en-US" sz="1800" b="1" dirty="0"/>
              <a:t>Directory Layout:</a:t>
            </a:r>
            <a:endParaRPr lang="en-US" sz="1800" dirty="0"/>
          </a:p>
          <a:p>
            <a:pPr lvl="2" algn="l"/>
            <a:r>
              <a:rPr lang="en-US" dirty="0"/>
              <a:t>firmware/ </a:t>
            </a:r>
            <a:r>
              <a:rPr lang="en-US" dirty="0" smtClean="0"/>
              <a:t>Hosts </a:t>
            </a:r>
            <a:r>
              <a:rPr lang="en-US" dirty="0"/>
              <a:t>our application C files, system header code, and compiled production .hex files.</a:t>
            </a:r>
          </a:p>
          <a:p>
            <a:pPr lvl="2" algn="l"/>
            <a:r>
              <a:rPr lang="en-US" dirty="0"/>
              <a:t>kicad/ </a:t>
            </a:r>
            <a:r>
              <a:rPr lang="en-US" dirty="0" smtClean="0"/>
              <a:t>Contains </a:t>
            </a:r>
            <a:r>
              <a:rPr lang="en-US" dirty="0"/>
              <a:t>schematic sheets, board files, and exported Gerber manufacturing packages.</a:t>
            </a:r>
          </a:p>
          <a:p>
            <a:pPr lvl="2" algn="l"/>
            <a:r>
              <a:rPr lang="en-US" dirty="0"/>
              <a:t>simulide/ </a:t>
            </a:r>
            <a:r>
              <a:rPr lang="en-US" dirty="0" smtClean="0"/>
              <a:t>Preserves </a:t>
            </a:r>
            <a:r>
              <a:rPr lang="en-US" dirty="0"/>
              <a:t>the virtual circuit layout files and simulation datasets.</a:t>
            </a:r>
          </a:p>
          <a:p>
            <a:pPr lvl="2" algn="l"/>
            <a:r>
              <a:rPr lang="en-US" dirty="0"/>
              <a:t>documentation/ </a:t>
            </a:r>
            <a:r>
              <a:rPr lang="en-US" dirty="0" smtClean="0"/>
              <a:t>Coordinates </a:t>
            </a:r>
            <a:r>
              <a:rPr lang="en-US" dirty="0"/>
              <a:t>system block diagrams and pin allocation charts.</a:t>
            </a:r>
          </a:p>
          <a:p>
            <a:pPr lvl="1" algn="l"/>
            <a:r>
              <a:rPr lang="en-US" sz="1800" b="1" dirty="0"/>
              <a:t>Incremental Commit Tracking:</a:t>
            </a:r>
            <a:r>
              <a:rPr lang="en-US" sz="1800" dirty="0"/>
              <a:t> Repository managed on GitHub using intentional, milestone-based updates to show clear project progression.</a:t>
            </a:r>
          </a:p>
          <a:p>
            <a:endParaRPr lang="en-US" dirty="0"/>
          </a:p>
        </p:txBody>
      </p:sp>
    </p:spTree>
    <p:extLst>
      <p:ext uri="{BB962C8B-B14F-4D97-AF65-F5344CB8AC3E}">
        <p14:creationId xmlns:p14="http://schemas.microsoft.com/office/powerpoint/2010/main" val="3220050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0389" y="246453"/>
            <a:ext cx="9448800" cy="569092"/>
          </a:xfrm>
        </p:spPr>
        <p:txBody>
          <a:bodyPr>
            <a:normAutofit/>
          </a:bodyPr>
          <a:lstStyle/>
          <a:p>
            <a:pPr algn="ctr"/>
            <a:r>
              <a:rPr lang="en-US" sz="2400" b="1" dirty="0" smtClean="0"/>
              <a:t>System </a:t>
            </a:r>
            <a:r>
              <a:rPr lang="en-US" sz="2400" b="1" dirty="0"/>
              <a:t>Summary &amp; Performance Metrics</a:t>
            </a:r>
            <a:endParaRPr lang="en-US" sz="2400" dirty="0"/>
          </a:p>
        </p:txBody>
      </p:sp>
      <p:sp>
        <p:nvSpPr>
          <p:cNvPr id="3" name="Subtitle 2"/>
          <p:cNvSpPr>
            <a:spLocks noGrp="1"/>
          </p:cNvSpPr>
          <p:nvPr>
            <p:ph type="subTitle" idx="1"/>
          </p:nvPr>
        </p:nvSpPr>
        <p:spPr>
          <a:xfrm>
            <a:off x="1396313" y="1210962"/>
            <a:ext cx="9448800" cy="5004487"/>
          </a:xfrm>
        </p:spPr>
        <p:txBody>
          <a:bodyPr/>
          <a:lstStyle/>
          <a:p>
            <a:endParaRPr lang="en-US" dirty="0"/>
          </a:p>
          <a:p>
            <a:pPr lvl="1" algn="l"/>
            <a:r>
              <a:rPr lang="en-US" b="1" dirty="0"/>
              <a:t>Low-Latency Edge Node:</a:t>
            </a:r>
            <a:r>
              <a:rPr lang="en-US" dirty="0"/>
              <a:t> Successfully engineered a real-time, low-overhead counting device</a:t>
            </a:r>
            <a:r>
              <a:rPr lang="en-US" dirty="0" smtClean="0"/>
              <a:t>.</a:t>
            </a:r>
          </a:p>
          <a:p>
            <a:pPr lvl="1" algn="l"/>
            <a:endParaRPr lang="en-US" sz="1800" dirty="0"/>
          </a:p>
          <a:p>
            <a:pPr lvl="1" algn="l"/>
            <a:r>
              <a:rPr lang="en-US" b="1" dirty="0"/>
              <a:t>Deterministic Acquisition:</a:t>
            </a:r>
            <a:r>
              <a:rPr lang="en-US" dirty="0"/>
              <a:t> Edge-detection hardware eliminates input pulse loss up to a tested frequency of 50 Hz</a:t>
            </a:r>
            <a:r>
              <a:rPr lang="en-US" dirty="0" smtClean="0"/>
              <a:t>.</a:t>
            </a:r>
          </a:p>
          <a:p>
            <a:pPr lvl="1" algn="l"/>
            <a:endParaRPr lang="en-US" sz="1800" dirty="0"/>
          </a:p>
          <a:p>
            <a:pPr lvl="1" algn="l"/>
            <a:r>
              <a:rPr lang="en-US" b="1" dirty="0"/>
              <a:t>Efficient Code Footprint:</a:t>
            </a:r>
            <a:r>
              <a:rPr lang="en-US" dirty="0"/>
              <a:t> Register-level configurations optimize flash memory use, leaving plenty of room for future features</a:t>
            </a:r>
            <a:r>
              <a:rPr lang="en-US" dirty="0" smtClean="0"/>
              <a:t>.</a:t>
            </a:r>
          </a:p>
          <a:p>
            <a:pPr lvl="1" algn="l"/>
            <a:endParaRPr lang="en-US" sz="1800" dirty="0"/>
          </a:p>
          <a:p>
            <a:pPr lvl="1" algn="l"/>
            <a:r>
              <a:rPr lang="en-US" b="1" dirty="0"/>
              <a:t>Manufacturing Ready Layout:</a:t>
            </a:r>
            <a:r>
              <a:rPr lang="en-US" dirty="0"/>
              <a:t> Compact single-layer board layout achieved with zero jumper wires, cutting down on physical points of failure.</a:t>
            </a:r>
            <a:endParaRPr lang="en-US" sz="1800" dirty="0"/>
          </a:p>
          <a:p>
            <a:endParaRPr lang="en-US" dirty="0"/>
          </a:p>
        </p:txBody>
      </p:sp>
    </p:spTree>
    <p:extLst>
      <p:ext uri="{BB962C8B-B14F-4D97-AF65-F5344CB8AC3E}">
        <p14:creationId xmlns:p14="http://schemas.microsoft.com/office/powerpoint/2010/main" val="26326106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4271" y="3550677"/>
            <a:ext cx="9214538" cy="400110"/>
          </a:xfrm>
          <a:prstGeom prst="rect">
            <a:avLst/>
          </a:prstGeom>
        </p:spPr>
        <p:txBody>
          <a:bodyPr wrap="square">
            <a:spAutoFit/>
          </a:bodyPr>
          <a:lstStyle/>
          <a:p>
            <a:r>
              <a:rPr lang="en-US" sz="2000" b="1" i="1" dirty="0"/>
              <a:t>https://github.com/naslaizer/ATmega32_External_Event_Object_Counter</a:t>
            </a:r>
          </a:p>
        </p:txBody>
      </p:sp>
      <p:sp>
        <p:nvSpPr>
          <p:cNvPr id="3" name="Rectangle 2"/>
          <p:cNvSpPr/>
          <p:nvPr/>
        </p:nvSpPr>
        <p:spPr>
          <a:xfrm>
            <a:off x="4675414" y="815546"/>
            <a:ext cx="2503862" cy="276999"/>
          </a:xfrm>
          <a:prstGeom prst="rect">
            <a:avLst/>
          </a:prstGeom>
        </p:spPr>
        <p:txBody>
          <a:bodyPr wrap="square">
            <a:spAutoFit/>
          </a:bodyPr>
          <a:lstStyle/>
          <a:p>
            <a:r>
              <a:rPr lang="en-US" sz="1200" b="1" dirty="0">
                <a:latin typeface="Times New Roman" panose="02020603050405020304" pitchFamily="18" charset="0"/>
                <a:ea typeface="Times New Roman" panose="02020603050405020304" pitchFamily="18" charset="0"/>
              </a:rPr>
              <a:t>Technical Defense Open Floor</a:t>
            </a:r>
            <a:endParaRPr lang="en-US" sz="1200" dirty="0"/>
          </a:p>
        </p:txBody>
      </p:sp>
      <p:sp>
        <p:nvSpPr>
          <p:cNvPr id="4" name="Rectangle 3"/>
          <p:cNvSpPr/>
          <p:nvPr/>
        </p:nvSpPr>
        <p:spPr>
          <a:xfrm>
            <a:off x="2377645" y="1255811"/>
            <a:ext cx="7127790" cy="322845"/>
          </a:xfrm>
          <a:prstGeom prst="rect">
            <a:avLst/>
          </a:prstGeom>
        </p:spPr>
        <p:txBody>
          <a:bodyPr wrap="square">
            <a:spAutoFit/>
          </a:bodyPr>
          <a:lstStyle/>
          <a:p>
            <a:pPr marR="0" lvl="1">
              <a:lnSpc>
                <a:spcPct val="107000"/>
              </a:lnSpc>
              <a:spcBef>
                <a:spcPts val="0"/>
              </a:spcBef>
              <a:spcAft>
                <a:spcPts val="800"/>
              </a:spcAft>
              <a:buSzPts val="1000"/>
              <a:tabLst>
                <a:tab pos="914400" algn="l"/>
              </a:tabLst>
            </a:pPr>
            <a:r>
              <a:rPr lang="en-US" sz="1400" b="1" i="1" dirty="0" smtClean="0">
                <a:latin typeface="Times New Roman" panose="02020603050405020304" pitchFamily="18" charset="0"/>
                <a:ea typeface="Times New Roman" panose="02020603050405020304" pitchFamily="18" charset="0"/>
                <a:cs typeface="Times New Roman" panose="02020603050405020304" pitchFamily="18" charset="0"/>
              </a:rPr>
              <a:t>Thank </a:t>
            </a:r>
            <a:r>
              <a:rPr lang="en-US" sz="1400" b="1" i="1" dirty="0">
                <a:latin typeface="Times New Roman" panose="02020603050405020304" pitchFamily="18" charset="0"/>
                <a:ea typeface="Times New Roman" panose="02020603050405020304" pitchFamily="18" charset="0"/>
                <a:cs typeface="Times New Roman" panose="02020603050405020304" pitchFamily="18" charset="0"/>
              </a:rPr>
              <a:t>you for your time. The floor is now open for questions and technical discussion</a:t>
            </a:r>
            <a:r>
              <a:rPr lang="en-US" sz="1200" b="1" i="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b="1"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537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125</TotalTime>
  <Words>1217</Words>
  <Application>Microsoft Office PowerPoint</Application>
  <PresentationFormat>Widescreen</PresentationFormat>
  <Paragraphs>146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Century Gothic</vt:lpstr>
      <vt:lpstr>Times New Roman</vt:lpstr>
      <vt:lpstr>Vapor Trail</vt:lpstr>
      <vt:lpstr>PowerPoint Presentation</vt:lpstr>
      <vt:lpstr>ATmega32 External Event Object Counter</vt:lpstr>
      <vt:lpstr>Comprehensive Project Context &amp; Theoretical Problem Statement</vt:lpstr>
      <vt:lpstr>System Architecture &amp; Subsystem Deconstruction</vt:lpstr>
      <vt:lpstr>Simple Code Settings (Registers)</vt:lpstr>
      <vt:lpstr>Firmware Flow, Stack Management &amp; Asynchronous Execution</vt:lpstr>
      <vt:lpstr>System Schematic Capture Design</vt:lpstr>
      <vt:lpstr>Complete KiCad  Schematic Sheet showing all components and wire nets</vt:lpstr>
      <vt:lpstr> Functional Simulation Emulation &amp; Validation testing</vt:lpstr>
      <vt:lpstr>Active SimulIDE workspace running the simulation</vt:lpstr>
      <vt:lpstr>SimulIDE workspace STOPPING the simulation</vt:lpstr>
      <vt:lpstr>Advanced Single-Layer PCB Optimization Strategies</vt:lpstr>
      <vt:lpstr>KiCad 2D Copper Trace PCB Layout Grid showing curved paths</vt:lpstr>
      <vt:lpstr>3D Mechanical Inspection &amp; Layout Audit</vt:lpstr>
      <vt:lpstr>KiCad 3D Viewer Renders showing Top Component </vt:lpstr>
      <vt:lpstr>KiCad 3D Viewer Renders showing Bottom Copper Trace views </vt:lpstr>
      <vt:lpstr>Engineering Directory Architecture &amp; Version Control</vt:lpstr>
      <vt:lpstr>System Summary &amp; Performance Metrics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Project Context &amp; Theoretical Problem Statement</dc:title>
  <dc:creator>naslaizer</dc:creator>
  <cp:lastModifiedBy>naslaizer</cp:lastModifiedBy>
  <cp:revision>11</cp:revision>
  <dcterms:created xsi:type="dcterms:W3CDTF">2026-06-30T22:40:01Z</dcterms:created>
  <dcterms:modified xsi:type="dcterms:W3CDTF">2026-07-01T08:42:11Z</dcterms:modified>
</cp:coreProperties>
</file>